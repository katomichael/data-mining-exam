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7" r:id="rId6"/>
    <p:sldId id="260" r:id="rId7"/>
    <p:sldId id="268" r:id="rId8"/>
    <p:sldId id="261" r:id="rId9"/>
    <p:sldId id="269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46363-EA83-4CC3-A6D9-ED26531CB12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82385-DE86-4386-AFF2-39E0D42B1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7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Note: Normalization is crucial for models like Logistic Regression to prevent features with large values (like TotalCharges) from dominating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Telecom Customer Churn Prediction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Data Preprocessing, Exploratory </a:t>
            </a:r>
            <a:r>
              <a:rPr sz="2400" dirty="0"/>
              <a:t>Analysis</a:t>
            </a:r>
            <a:r>
              <a:rPr dirty="0"/>
              <a:t>, and Machine Learning Evaluation</a:t>
            </a:r>
          </a:p>
          <a:p>
            <a:endParaRPr dirty="0"/>
          </a:p>
          <a:p>
            <a:r>
              <a:rPr dirty="0"/>
              <a:t>Presented </a:t>
            </a:r>
            <a:r>
              <a:rPr dirty="0" err="1"/>
              <a:t>By:</a:t>
            </a:r>
            <a:r>
              <a:rPr lang="en-US" dirty="0" err="1"/>
              <a:t>kato</a:t>
            </a:r>
            <a:r>
              <a:rPr lang="en-US" dirty="0"/>
              <a:t> </a:t>
            </a:r>
            <a:r>
              <a:rPr lang="en-US" dirty="0" err="1"/>
              <a:t>michael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/>
            <a:r>
              <a:rPr dirty="0"/>
              <a:t>Context: Analysis of East African Telecom Subscriber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A - Data Loading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Objective</a:t>
            </a:r>
            <a:r>
              <a:rPr dirty="0"/>
              <a:t>: Load data and ensure quality for analysis.</a:t>
            </a:r>
          </a:p>
          <a:p>
            <a:r>
              <a:rPr dirty="0"/>
              <a:t>Dataset Overview:</a:t>
            </a:r>
          </a:p>
          <a:p>
            <a:pPr lvl="1"/>
            <a:r>
              <a:rPr dirty="0"/>
              <a:t>7,043 Rows, 21 Columns.</a:t>
            </a:r>
          </a:p>
          <a:p>
            <a:pPr lvl="1"/>
            <a:r>
              <a:rPr dirty="0"/>
              <a:t>Target Variable: Churn.</a:t>
            </a:r>
          </a:p>
          <a:p>
            <a:r>
              <a:rPr dirty="0"/>
              <a:t>Data Quality Issues Identified:</a:t>
            </a:r>
          </a:p>
          <a:p>
            <a:pPr lvl="1"/>
            <a:r>
              <a:rPr dirty="0" err="1"/>
              <a:t>TotalCharges</a:t>
            </a:r>
            <a:r>
              <a:rPr dirty="0"/>
              <a:t> contained whitespace strings; converted to numeric.</a:t>
            </a:r>
          </a:p>
          <a:p>
            <a:pPr lvl="1"/>
            <a:r>
              <a:rPr dirty="0"/>
              <a:t>Missing values in </a:t>
            </a:r>
            <a:r>
              <a:rPr dirty="0" err="1"/>
              <a:t>TotalCharges</a:t>
            </a:r>
            <a:r>
              <a:rPr dirty="0"/>
              <a:t> filled with Median.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A -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400" dirty="0"/>
              <a:t>Objective</a:t>
            </a:r>
            <a:r>
              <a:rPr dirty="0"/>
              <a:t>: Prepare raw data for Machine Learning algorithms.</a:t>
            </a:r>
          </a:p>
          <a:p>
            <a:pPr>
              <a:defRPr b="1"/>
            </a:pPr>
            <a:r>
              <a:rPr dirty="0"/>
              <a:t>1. Encoding Categorical Data:</a:t>
            </a:r>
          </a:p>
          <a:p>
            <a:pPr lvl="1"/>
            <a:r>
              <a:rPr dirty="0"/>
              <a:t>Used Label Encoding to convert text features (e.g., Gender, Partner, Contract) into numeric format.</a:t>
            </a:r>
          </a:p>
          <a:p>
            <a:pPr>
              <a:defRPr b="1"/>
            </a:pPr>
            <a:r>
              <a:rPr dirty="0"/>
              <a:t>2. Feature Scaling:</a:t>
            </a:r>
          </a:p>
          <a:p>
            <a:pPr lvl="1"/>
            <a:r>
              <a:rPr dirty="0"/>
              <a:t>Applied </a:t>
            </a:r>
            <a:r>
              <a:rPr dirty="0" err="1"/>
              <a:t>StandardScaler</a:t>
            </a:r>
            <a:r>
              <a:rPr dirty="0"/>
              <a:t> to tenure, </a:t>
            </a:r>
            <a:r>
              <a:rPr dirty="0" err="1"/>
              <a:t>MonthlyCharges</a:t>
            </a:r>
            <a:r>
              <a:rPr dirty="0"/>
              <a:t>, and </a:t>
            </a:r>
            <a:r>
              <a:rPr dirty="0" err="1"/>
              <a:t>TotalCharges</a:t>
            </a:r>
            <a:r>
              <a:rPr dirty="0"/>
              <a:t> to normalize ranges.</a:t>
            </a:r>
          </a:p>
          <a:p>
            <a:pPr>
              <a:defRPr b="1"/>
            </a:pPr>
            <a:r>
              <a:rPr dirty="0"/>
              <a:t>3. Target Labeling:</a:t>
            </a:r>
          </a:p>
          <a:p>
            <a:pPr lvl="1"/>
            <a:r>
              <a:rPr dirty="0"/>
              <a:t>Converted Churn (Yes/No) to Binary (1/0).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B - Exploratory Analysis (Numerical)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Objective: Understand the distribution of customer behavior.</a:t>
            </a:r>
          </a:p>
          <a:p>
            <a:pPr>
              <a:defRPr b="1"/>
            </a:pPr>
            <a:r>
              <a:rPr sz="2400" dirty="0"/>
              <a:t>Observations</a:t>
            </a:r>
            <a:r>
              <a:rPr dirty="0"/>
              <a:t>:</a:t>
            </a:r>
          </a:p>
          <a:p>
            <a:pPr lvl="1"/>
            <a:r>
              <a:rPr dirty="0"/>
              <a:t>Tenure: Distribution is bimodal. Many customers are brand new (&lt; 5 months), and many are long-term loyalists (&gt; 60 months).</a:t>
            </a:r>
          </a:p>
          <a:p>
            <a:pPr lvl="1"/>
            <a:r>
              <a:rPr dirty="0"/>
              <a:t>Monthly Charges: Skewed slightly towards higher-cost plans.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DE45B3-BF17-B620-71AE-0A0018603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28" y="1697994"/>
            <a:ext cx="3900195" cy="3107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36699-911E-3A0C-6816-05AB5D1F7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23" y="1518963"/>
            <a:ext cx="4357785" cy="341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75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B - Churn by Contract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the impact of contract commitments on retention.</a:t>
            </a:r>
          </a:p>
          <a:p>
            <a:pPr>
              <a:defRPr b="1"/>
            </a:pPr>
            <a:r>
              <a:t>Key Insight:</a:t>
            </a:r>
          </a:p>
          <a:p>
            <a:pPr lvl="1"/>
            <a:r>
              <a:t>Month-to-Month contracts have the highest churn rate (significantly higher than 1 or 2-year contracts).</a:t>
            </a:r>
          </a:p>
          <a:p>
            <a:pPr lvl="1"/>
            <a:r>
              <a:t>Customers with long-term commitments rarely churn.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07807D-C256-14F9-42E5-54755BB69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720056"/>
            <a:ext cx="54864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0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B -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Objective: Identify relationships between </a:t>
            </a:r>
            <a:r>
              <a:rPr sz="2400" dirty="0"/>
              <a:t>numerical</a:t>
            </a:r>
            <a:r>
              <a:rPr dirty="0"/>
              <a:t> features.</a:t>
            </a:r>
          </a:p>
          <a:p>
            <a:pPr>
              <a:defRPr b="1"/>
            </a:pPr>
            <a:r>
              <a:rPr dirty="0"/>
              <a:t>Key Correlations:</a:t>
            </a:r>
          </a:p>
          <a:p>
            <a:pPr lvl="1"/>
            <a:r>
              <a:rPr dirty="0"/>
              <a:t>Strong positive correlation between Tenure and </a:t>
            </a:r>
            <a:r>
              <a:rPr dirty="0" err="1"/>
              <a:t>TotalCharges</a:t>
            </a:r>
            <a:r>
              <a:rPr dirty="0"/>
              <a:t> (logical, as longer stay = more money paid).</a:t>
            </a:r>
          </a:p>
          <a:p>
            <a:pPr lvl="1"/>
            <a:r>
              <a:rPr dirty="0" err="1"/>
              <a:t>MonthlyCharges</a:t>
            </a:r>
            <a:r>
              <a:rPr dirty="0"/>
              <a:t> has a moderate correlation with Churn.</a:t>
            </a:r>
          </a:p>
          <a:p>
            <a:pPr lvl="1"/>
            <a:r>
              <a:rPr dirty="0"/>
              <a:t>Tenure has a negative correlation with Churn (Newer customers leave more often).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4E01E2-F1CF-D4E8-BDB2-0AD6A6DB3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093" y="1137920"/>
            <a:ext cx="6876537" cy="498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936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B - EDA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Major Factors Contributing to Churn:</a:t>
            </a:r>
          </a:p>
          <a:p>
            <a:pPr>
              <a:defRPr b="1"/>
            </a:pPr>
            <a:r>
              <a:rPr sz="2400" dirty="0"/>
              <a:t>1. Contract Flexibility:</a:t>
            </a:r>
          </a:p>
          <a:p>
            <a:pPr lvl="1"/>
            <a:r>
              <a:rPr sz="2400" dirty="0"/>
              <a:t>Customers not bound by 1-2 year contracts leave frequently.</a:t>
            </a:r>
          </a:p>
          <a:p>
            <a:pPr>
              <a:defRPr b="1"/>
            </a:pPr>
            <a:r>
              <a:rPr sz="2400" dirty="0"/>
              <a:t>2. Tenure:</a:t>
            </a:r>
          </a:p>
          <a:p>
            <a:pPr lvl="1"/>
            <a:r>
              <a:rPr dirty="0"/>
              <a:t>The first few months are the 'danger zone' for customer attrition.</a:t>
            </a:r>
          </a:p>
          <a:p>
            <a:pPr>
              <a:defRPr b="1"/>
            </a:pPr>
            <a:r>
              <a:rPr dirty="0"/>
              <a:t>3. Pricing:</a:t>
            </a:r>
          </a:p>
          <a:p>
            <a:pPr lvl="1"/>
            <a:r>
              <a:rPr dirty="0"/>
              <a:t>Higher monthly charges tend to drive higher churn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D - 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Methodology:</a:t>
            </a:r>
          </a:p>
          <a:p>
            <a:pPr>
              <a:defRPr b="1"/>
            </a:pPr>
            <a:r>
              <a:rPr sz="2400" dirty="0"/>
              <a:t>Data Split:</a:t>
            </a:r>
          </a:p>
          <a:p>
            <a:pPr lvl="1"/>
            <a:r>
              <a:rPr sz="2400" dirty="0"/>
              <a:t>80% Training Data, 20% Testing Data.</a:t>
            </a:r>
          </a:p>
          <a:p>
            <a:pPr>
              <a:defRPr b="1"/>
            </a:pPr>
            <a:r>
              <a:rPr sz="2400" dirty="0"/>
              <a:t>Models Selected:</a:t>
            </a:r>
          </a:p>
          <a:p>
            <a:pPr>
              <a:defRPr b="1"/>
            </a:pPr>
            <a:r>
              <a:rPr sz="2400" dirty="0"/>
              <a:t>1. Logistic Regression:</a:t>
            </a:r>
          </a:p>
          <a:p>
            <a:pPr lvl="1"/>
            <a:r>
              <a:rPr sz="2400" dirty="0"/>
              <a:t>Selected for its interpretability and efficiency with binary classification.</a:t>
            </a:r>
          </a:p>
          <a:p>
            <a:pPr>
              <a:defRPr b="1"/>
            </a:pPr>
            <a:r>
              <a:rPr sz="2400" dirty="0"/>
              <a:t>2. Random Forest Classifier:</a:t>
            </a:r>
          </a:p>
          <a:p>
            <a:pPr lvl="1"/>
            <a:r>
              <a:rPr sz="2400" dirty="0"/>
              <a:t>Selected for its ability to handle complex, non-linear relationships and determine feature importance.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D - Model Evaluation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D -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drives the model predictions?</a:t>
            </a:r>
          </a:p>
          <a:p>
            <a:pPr>
              <a:defRPr b="1"/>
            </a:pPr>
            <a:r>
              <a:t>Top 4 Features (Random Forest):</a:t>
            </a:r>
          </a:p>
          <a:p>
            <a:pPr lvl="1"/>
            <a:r>
              <a:t>1. Total Charges: The cumulative value of the customer.</a:t>
            </a:r>
          </a:p>
          <a:p>
            <a:pPr lvl="1"/>
            <a:r>
              <a:t>2. Monthly Charges: The recurring cost burden on the customer.</a:t>
            </a:r>
          </a:p>
          <a:p>
            <a:pPr lvl="1"/>
            <a:r>
              <a:t>3. Tenure: The length of the relationship.</a:t>
            </a:r>
          </a:p>
          <a:p>
            <a:pPr lvl="1"/>
            <a:r>
              <a:t>4. Contract Type: The legal binding of the customer.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pPr lvl="1"/>
            <a:r>
              <a:t>Logistic Regression outperformed Random Forest in this iteration, specifically in Recall (catching more actual churners).</a:t>
            </a:r>
          </a:p>
          <a:p>
            <a:pPr>
              <a:defRPr b="1"/>
            </a:pPr>
            <a:r>
              <a:t>Strategic Actions:</a:t>
            </a:r>
          </a:p>
          <a:p>
            <a:pPr>
              <a:defRPr b="1"/>
            </a:pPr>
            <a:r>
              <a:t>1. Migrate Customers:</a:t>
            </a:r>
          </a:p>
          <a:p>
            <a:pPr lvl="1"/>
            <a:r>
              <a:t>Incentivize Month-to-Month users to move to 1-Year contracts.</a:t>
            </a:r>
          </a:p>
          <a:p>
            <a:pPr>
              <a:defRPr b="1"/>
            </a:pPr>
            <a:r>
              <a:t>2. Onboarding:</a:t>
            </a:r>
          </a:p>
          <a:p>
            <a:pPr lvl="1"/>
            <a:r>
              <a:t>Create a specific retention program for the first 6 months (high tenure risk).</a:t>
            </a:r>
          </a:p>
          <a:p>
            <a:pPr>
              <a:defRPr b="1"/>
            </a:pPr>
            <a:r>
              <a:t>3. Pricing Review:</a:t>
            </a:r>
          </a:p>
          <a:p>
            <a:pPr lvl="1"/>
            <a:r>
              <a:t>Investigate why high monthly charge users are leaving—do they need more value adds?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629</Words>
  <Application>Microsoft Office PowerPoint</Application>
  <PresentationFormat>On-screen Show (4:3)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Telecom Customer Churn Prediction Analysis</vt:lpstr>
      <vt:lpstr>Part A - Data Loading &amp; Integrity</vt:lpstr>
      <vt:lpstr>Part A - Preprocessing Pipeline</vt:lpstr>
      <vt:lpstr>Part B - Exploratory Analysis (Numerical)</vt:lpstr>
      <vt:lpstr>PowerPoint Presentation</vt:lpstr>
      <vt:lpstr>Part B - Churn by Contract Type</vt:lpstr>
      <vt:lpstr>PowerPoint Presentation</vt:lpstr>
      <vt:lpstr>Part B - Correlation Analysis</vt:lpstr>
      <vt:lpstr>PowerPoint Presentation</vt:lpstr>
      <vt:lpstr>Part B - EDA Conclusion</vt:lpstr>
      <vt:lpstr>Part D - Machine Learning Models</vt:lpstr>
      <vt:lpstr>Part D - Model Evaluation Metrics</vt:lpstr>
      <vt:lpstr>Part D - Feature Importance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mikey kato nyenje</cp:lastModifiedBy>
  <cp:revision>2</cp:revision>
  <dcterms:created xsi:type="dcterms:W3CDTF">2013-01-27T09:14:16Z</dcterms:created>
  <dcterms:modified xsi:type="dcterms:W3CDTF">2025-12-14T20:24:08Z</dcterms:modified>
  <cp:category/>
</cp:coreProperties>
</file>